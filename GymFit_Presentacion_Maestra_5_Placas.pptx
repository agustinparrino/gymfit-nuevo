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put_fi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17" y="2716350"/>
            <a:ext cx="10051517" cy="399268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ED965D4-71C0-3EFC-046B-79790FA40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17" y="0"/>
            <a:ext cx="10051517" cy="28770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put_fi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491" y="1045153"/>
            <a:ext cx="5624051" cy="51363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0440" y="802313"/>
            <a:ext cx="5358579" cy="562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CC"/>
                </a:solidFill>
              </a:defRPr>
            </a:pPr>
            <a:r>
              <a:rPr dirty="0"/>
              <a:t>ALCANCE OPERATIVO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</a:defRPr>
            </a:pPr>
            <a:r>
              <a:rPr dirty="0" err="1"/>
              <a:t>Funcionalidades</a:t>
            </a:r>
            <a:r>
              <a:rPr dirty="0"/>
              <a:t> y </a:t>
            </a:r>
            <a:r>
              <a:rPr dirty="0" err="1"/>
              <a:t>Módulos</a:t>
            </a:r>
            <a:r>
              <a:rPr dirty="0"/>
              <a:t> </a:t>
            </a:r>
            <a:r>
              <a:rPr dirty="0" err="1"/>
              <a:t>Principales</a:t>
            </a:r>
            <a:endParaRPr dirty="0"/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</a:rPr>
              <a:t>Control de </a:t>
            </a:r>
            <a:r>
              <a:rPr sz="1600" b="1" dirty="0" err="1">
                <a:solidFill>
                  <a:srgbClr val="FFFFFF"/>
                </a:solidFill>
              </a:rPr>
              <a:t>Accesos</a:t>
            </a:r>
            <a:r>
              <a:rPr sz="1600" b="1" dirty="0">
                <a:solidFill>
                  <a:srgbClr val="FFFFFF"/>
                </a:solidFill>
              </a:rPr>
              <a:t> y Roles:</a:t>
            </a:r>
            <a:r>
              <a:rPr sz="1600" dirty="0">
                <a:solidFill>
                  <a:srgbClr val="C8C8C8"/>
                </a:solidFill>
              </a:rPr>
              <a:t> </a:t>
            </a:r>
            <a:r>
              <a:rPr lang="es-ES" sz="1600" b="1" dirty="0">
                <a:solidFill>
                  <a:schemeClr val="bg2"/>
                </a:solidFill>
              </a:rPr>
              <a:t>Control de Accesos y Roles:</a:t>
            </a:r>
            <a:r>
              <a:rPr lang="es-ES" sz="1600" dirty="0">
                <a:solidFill>
                  <a:schemeClr val="bg2"/>
                </a:solidFill>
              </a:rPr>
              <a:t> Implementación de un sistema de autenticación robusto basado en credenciales cifradas, asegurando una diferenciación estricta de privilegios entre los socios comunes y los administradores con acceso total al sistema.</a:t>
            </a:r>
          </a:p>
          <a:p>
            <a:pPr>
              <a:spcBef>
                <a:spcPts val="1000"/>
              </a:spcBef>
            </a:pPr>
            <a:r>
              <a:rPr sz="1600" b="1" dirty="0" err="1">
                <a:solidFill>
                  <a:srgbClr val="FFFFFF"/>
                </a:solidFill>
              </a:rPr>
              <a:t>Módulo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Dinámico</a:t>
            </a:r>
            <a:r>
              <a:rPr sz="1600" b="1" dirty="0">
                <a:solidFill>
                  <a:srgbClr val="FFFFFF"/>
                </a:solidFill>
              </a:rPr>
              <a:t> de </a:t>
            </a:r>
            <a:r>
              <a:rPr sz="1600" b="1" dirty="0" err="1">
                <a:solidFill>
                  <a:srgbClr val="FFFFFF"/>
                </a:solidFill>
              </a:rPr>
              <a:t>Rutinas</a:t>
            </a:r>
            <a:r>
              <a:rPr sz="1600" b="1" dirty="0">
                <a:solidFill>
                  <a:srgbClr val="FFFFFF"/>
                </a:solidFill>
              </a:rPr>
              <a:t>:</a:t>
            </a:r>
            <a:r>
              <a:rPr sz="1600" dirty="0">
                <a:solidFill>
                  <a:srgbClr val="C8C8C8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Herramienta interactiva orientada a la creación, asignación, personalización y seguimiento detallado de esquemas de entrenamiento estructurados por días, objetivos específicos o grupos musculares.</a:t>
            </a:r>
            <a:endParaRPr sz="1600" dirty="0">
              <a:solidFill>
                <a:schemeClr val="bg2"/>
              </a:solidFill>
            </a:endParaRPr>
          </a:p>
          <a:p>
            <a:pPr>
              <a:spcBef>
                <a:spcPts val="1000"/>
              </a:spcBef>
            </a:pPr>
            <a:r>
              <a:rPr sz="1600" b="1" dirty="0" err="1">
                <a:solidFill>
                  <a:srgbClr val="FFFFFF"/>
                </a:solidFill>
              </a:rPr>
              <a:t>Catálogo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Centralizado</a:t>
            </a:r>
            <a:r>
              <a:rPr sz="1600" b="1" dirty="0">
                <a:solidFill>
                  <a:srgbClr val="FFFFFF"/>
                </a:solidFill>
              </a:rPr>
              <a:t>:</a:t>
            </a:r>
            <a:r>
              <a:rPr sz="1600" dirty="0">
                <a:solidFill>
                  <a:srgbClr val="C8C8C8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Repositorio oficial y maestro de movimientos de musculación y acondicionamiento físico, enriquecido con descripciones técnicas, nivel de dificultad y su respectivo impacto muscular.</a:t>
            </a:r>
            <a:endParaRPr sz="1600" dirty="0">
              <a:solidFill>
                <a:schemeClr val="bg2"/>
              </a:solidFill>
            </a:endParaRPr>
          </a:p>
          <a:p>
            <a:pPr>
              <a:spcBef>
                <a:spcPts val="1000"/>
              </a:spcBef>
            </a:pPr>
            <a:r>
              <a:rPr sz="1600" b="1" dirty="0" err="1">
                <a:solidFill>
                  <a:srgbClr val="FFFFFF"/>
                </a:solidFill>
              </a:rPr>
              <a:t>Experiencia</a:t>
            </a:r>
            <a:r>
              <a:rPr sz="1600" b="1" dirty="0">
                <a:solidFill>
                  <a:srgbClr val="FFFFFF"/>
                </a:solidFill>
              </a:rPr>
              <a:t> UI/UX: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Interfaz web desarrollada bajo un enfoque moderno, intuitivo y altamente responsivo (</a:t>
            </a:r>
            <a:r>
              <a:rPr lang="es-ES" sz="1600" dirty="0" err="1">
                <a:solidFill>
                  <a:schemeClr val="bg2"/>
                </a:solidFill>
              </a:rPr>
              <a:t>mobile-first</a:t>
            </a:r>
            <a:r>
              <a:rPr lang="es-ES" sz="1600" dirty="0">
                <a:solidFill>
                  <a:schemeClr val="bg2"/>
                </a:solidFill>
              </a:rPr>
              <a:t>), garantizando la agilidad operativa tanto en dispositivos de escritorio como móviles.</a:t>
            </a:r>
            <a:endParaRPr sz="1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put_fil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3" y="731520"/>
            <a:ext cx="5700740" cy="507344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1948" y="731520"/>
            <a:ext cx="5624052" cy="5129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CC"/>
                </a:solidFill>
              </a:defRPr>
            </a:pPr>
            <a:r>
              <a:rPr dirty="0"/>
              <a:t>STACK DE DESARROLLO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</a:defRPr>
            </a:pPr>
            <a:r>
              <a:rPr dirty="0"/>
              <a:t>Pila </a:t>
            </a:r>
            <a:r>
              <a:rPr dirty="0" err="1"/>
              <a:t>Tecnológica</a:t>
            </a:r>
            <a:r>
              <a:rPr dirty="0"/>
              <a:t> y </a:t>
            </a:r>
            <a:r>
              <a:rPr dirty="0" err="1"/>
              <a:t>Arquitectura</a:t>
            </a:r>
            <a:endParaRPr dirty="0"/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</a:rPr>
              <a:t>Backend Robusto: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Desarrollado íntegramente en Java utilizando Spring Boot bajo el patrón de arquitectura Modelo-Vista-Controlador (MVC), asegurando una capa de servicios escalable y persistencia eficiente mediante Spring Data JPA.</a:t>
            </a:r>
            <a:endParaRPr sz="1600" dirty="0">
              <a:solidFill>
                <a:schemeClr val="bg2"/>
              </a:solidFill>
            </a:endParaRP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</a:rPr>
              <a:t>Frontend </a:t>
            </a:r>
            <a:r>
              <a:rPr sz="1600" b="1" dirty="0" err="1">
                <a:solidFill>
                  <a:srgbClr val="FFFFFF"/>
                </a:solidFill>
              </a:rPr>
              <a:t>Dinámico</a:t>
            </a:r>
            <a:r>
              <a:rPr sz="1600" b="1" dirty="0">
                <a:solidFill>
                  <a:schemeClr val="bg2"/>
                </a:solidFill>
              </a:rPr>
              <a:t>:</a:t>
            </a:r>
            <a:r>
              <a:rPr lang="es-ES" sz="1600" b="1" dirty="0">
                <a:solidFill>
                  <a:schemeClr val="bg2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Implementación de un motor de plantillas </a:t>
            </a:r>
            <a:r>
              <a:rPr lang="es-ES" sz="1600" dirty="0" err="1">
                <a:solidFill>
                  <a:schemeClr val="bg2"/>
                </a:solidFill>
              </a:rPr>
              <a:t>Thymeleaf</a:t>
            </a:r>
            <a:r>
              <a:rPr lang="es-ES" sz="1600" dirty="0">
                <a:solidFill>
                  <a:schemeClr val="bg2"/>
                </a:solidFill>
              </a:rPr>
              <a:t> integrado de forma directa con los controladores del servidor, logrando un renderizado fluido de vistas y una excelente interacción web.</a:t>
            </a:r>
            <a:endParaRPr sz="1600" dirty="0">
              <a:solidFill>
                <a:schemeClr val="bg2"/>
              </a:solidFill>
            </a:endParaRP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</a:rPr>
              <a:t>Control de </a:t>
            </a:r>
            <a:r>
              <a:rPr sz="1600" b="1" dirty="0" err="1">
                <a:solidFill>
                  <a:srgbClr val="FFFFFF"/>
                </a:solidFill>
              </a:rPr>
              <a:t>Versiones</a:t>
            </a:r>
            <a:r>
              <a:rPr sz="1600" b="1" dirty="0">
                <a:solidFill>
                  <a:srgbClr val="FFFFFF"/>
                </a:solidFill>
              </a:rPr>
              <a:t>: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Gestión centralizada y colaborativa del código fuente mediante flujos de trabajo organizados y repositorios distribuidos en GitHub para garantizar la integración continua</a:t>
            </a:r>
            <a:r>
              <a:rPr lang="es-ES" sz="1600" dirty="0"/>
              <a:t>.</a:t>
            </a:r>
            <a:endParaRPr sz="1600" dirty="0">
              <a:solidFill>
                <a:srgbClr val="C8C8C8"/>
              </a:solidFill>
            </a:endParaRPr>
          </a:p>
          <a:p>
            <a:pPr>
              <a:spcBef>
                <a:spcPts val="1000"/>
              </a:spcBef>
            </a:pPr>
            <a:r>
              <a:rPr sz="1600" b="1" dirty="0" err="1">
                <a:solidFill>
                  <a:srgbClr val="FFFFFF"/>
                </a:solidFill>
              </a:rPr>
              <a:t>Entornos</a:t>
            </a:r>
            <a:r>
              <a:rPr sz="1600" b="1" dirty="0">
                <a:solidFill>
                  <a:srgbClr val="FFFFFF"/>
                </a:solidFill>
              </a:rPr>
              <a:t> Flexibles</a:t>
            </a:r>
            <a:r>
              <a:rPr sz="1600" b="1" dirty="0">
                <a:solidFill>
                  <a:schemeClr val="bg2"/>
                </a:solidFill>
              </a:rPr>
              <a:t>:</a:t>
            </a:r>
            <a:r>
              <a:rPr lang="es-ES" sz="1600" b="1" dirty="0">
                <a:solidFill>
                  <a:schemeClr val="bg2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Utilización estratégica de bases de datos H2 embebidas en memoria para agilizar las pruebas y el desarrollo local, combinada con MySQL para garantizar un rendimiento óptimo en producción.</a:t>
            </a:r>
            <a:endParaRPr sz="1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942" y="731520"/>
            <a:ext cx="5299587" cy="5129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CC"/>
                </a:solidFill>
              </a:defRPr>
            </a:pPr>
            <a:r>
              <a:rPr dirty="0"/>
              <a:t>MODELO ER Y CARDINALIDADES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</a:defRPr>
            </a:pPr>
            <a:r>
              <a:rPr dirty="0" err="1"/>
              <a:t>Diseño</a:t>
            </a:r>
            <a:r>
              <a:rPr dirty="0"/>
              <a:t> y </a:t>
            </a:r>
            <a:r>
              <a:rPr dirty="0" err="1"/>
              <a:t>Estructura</a:t>
            </a:r>
            <a:r>
              <a:rPr dirty="0"/>
              <a:t> de Base de Datos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</a:rPr>
              <a:t>Motor </a:t>
            </a:r>
            <a:r>
              <a:rPr sz="1600" b="1" dirty="0" err="1">
                <a:solidFill>
                  <a:srgbClr val="FFFFFF"/>
                </a:solidFill>
              </a:rPr>
              <a:t>Relacional</a:t>
            </a:r>
            <a:r>
              <a:rPr sz="1600" b="1" dirty="0">
                <a:solidFill>
                  <a:srgbClr val="FFFFFF"/>
                </a:solidFill>
              </a:rPr>
              <a:t>: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b="1" dirty="0">
                <a:solidFill>
                  <a:schemeClr val="bg2"/>
                </a:solidFill>
              </a:rPr>
              <a:t>Motor Relacional:</a:t>
            </a:r>
            <a:r>
              <a:rPr lang="es-ES" sz="1600" dirty="0">
                <a:solidFill>
                  <a:schemeClr val="bg2"/>
                </a:solidFill>
              </a:rPr>
              <a:t> Estructura SQL altamente optimizada para garantizar la integridad referencial, el cumplimiento de restricciones estrictas y la ejecución de consultas rápidas y seguras.</a:t>
            </a:r>
            <a:endParaRPr sz="1600" dirty="0">
              <a:solidFill>
                <a:schemeClr val="bg2"/>
              </a:solidFill>
            </a:endParaRPr>
          </a:p>
          <a:p>
            <a:pPr>
              <a:spcBef>
                <a:spcPts val="1000"/>
              </a:spcBef>
            </a:pPr>
            <a:r>
              <a:rPr sz="1600" b="1" dirty="0" err="1">
                <a:solidFill>
                  <a:srgbClr val="FFFFFF"/>
                </a:solidFill>
              </a:rPr>
              <a:t>Tablas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Principales</a:t>
            </a:r>
            <a:r>
              <a:rPr sz="1600" b="1" dirty="0">
                <a:solidFill>
                  <a:srgbClr val="FFFFFF"/>
                </a:solidFill>
              </a:rPr>
              <a:t>: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Modelado de entidades clave como usuarios (con gestión de credenciales y roles), ejercicios (catálogo maestro) y rutinas (planes de entrenamiento personalizados).</a:t>
            </a:r>
            <a:endParaRPr sz="1600" dirty="0">
              <a:solidFill>
                <a:schemeClr val="bg2"/>
              </a:solidFill>
            </a:endParaRPr>
          </a:p>
          <a:p>
            <a:pPr>
              <a:spcBef>
                <a:spcPts val="1000"/>
              </a:spcBef>
            </a:pPr>
            <a:r>
              <a:rPr sz="1600" b="1" dirty="0" err="1">
                <a:solidFill>
                  <a:srgbClr val="FFFFFF"/>
                </a:solidFill>
              </a:rPr>
              <a:t>Cardinalidades</a:t>
            </a:r>
            <a:r>
              <a:rPr sz="1600" b="1" dirty="0">
                <a:solidFill>
                  <a:srgbClr val="FFFFFF"/>
                </a:solidFill>
              </a:rPr>
              <a:t> Clave: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Definición precisa de relaciones relacionales, destacando el vínculo 1:N entre Usuarios y Rutinas, y la relación N:M entre Rutinas y Ejercicios mediante tablas intermedias.</a:t>
            </a:r>
          </a:p>
          <a:p>
            <a:pPr>
              <a:spcBef>
                <a:spcPts val="1000"/>
              </a:spcBef>
            </a:pPr>
            <a:r>
              <a:rPr sz="1600" b="1" dirty="0" err="1">
                <a:solidFill>
                  <a:srgbClr val="FFFFFF"/>
                </a:solidFill>
              </a:rPr>
              <a:t>Persistencia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Eficiente</a:t>
            </a:r>
            <a:r>
              <a:rPr sz="1600" b="1" dirty="0">
                <a:solidFill>
                  <a:srgbClr val="FFFFFF"/>
                </a:solidFill>
              </a:rPr>
              <a:t>: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Implementación de un mapeo objeto-relacional (ORM) transparente que optimiza la comunicación con la base de datos y reduce significativamente los tiempos de respuesta.</a:t>
            </a:r>
            <a:endParaRPr sz="1600" dirty="0">
              <a:solidFill>
                <a:schemeClr val="bg2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4F9FD59-209C-F45F-31EF-A9569714D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55" y="640080"/>
            <a:ext cx="6046839" cy="51296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731520"/>
            <a:ext cx="4878740" cy="48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FCC"/>
                </a:solidFill>
              </a:defRPr>
            </a:pPr>
            <a:r>
              <a:rPr dirty="0"/>
              <a:t>CIERRE Y ESCALABILIDAD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</a:defRPr>
            </a:pPr>
            <a:r>
              <a:rPr dirty="0" err="1"/>
              <a:t>Conclusiones</a:t>
            </a:r>
            <a:r>
              <a:rPr dirty="0"/>
              <a:t> y Futuro del Proyecto</a:t>
            </a: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</a:rPr>
              <a:t>Estado Actual: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Sistema web completamente funcional que cuenta con los módulos </a:t>
            </a:r>
            <a:r>
              <a:rPr lang="es-ES" sz="1600" dirty="0" err="1">
                <a:solidFill>
                  <a:schemeClr val="bg2"/>
                </a:solidFill>
              </a:rPr>
              <a:t>core</a:t>
            </a:r>
            <a:r>
              <a:rPr lang="es-ES" sz="1600" dirty="0">
                <a:solidFill>
                  <a:schemeClr val="bg2"/>
                </a:solidFill>
              </a:rPr>
              <a:t> operativos, una base de datos integrada de forma sólida y flujos de usuario validados con éxito</a:t>
            </a:r>
            <a:r>
              <a:rPr lang="es-ES" sz="1600" dirty="0"/>
              <a:t>.</a:t>
            </a:r>
            <a:endParaRPr sz="1600" dirty="0">
              <a:solidFill>
                <a:srgbClr val="C8C8C8"/>
              </a:solidFill>
            </a:endParaRPr>
          </a:p>
          <a:p>
            <a:pPr>
              <a:spcBef>
                <a:spcPts val="1000"/>
              </a:spcBef>
            </a:pPr>
            <a:r>
              <a:rPr sz="1600" b="1" dirty="0" err="1">
                <a:solidFill>
                  <a:srgbClr val="FFFFFF"/>
                </a:solidFill>
              </a:rPr>
              <a:t>Próximas</a:t>
            </a:r>
            <a:r>
              <a:rPr sz="1600" b="1" dirty="0">
                <a:solidFill>
                  <a:srgbClr val="FFFFFF"/>
                </a:solidFill>
              </a:rPr>
              <a:t> </a:t>
            </a:r>
            <a:r>
              <a:rPr sz="1600" b="1" dirty="0" err="1">
                <a:solidFill>
                  <a:srgbClr val="FFFFFF"/>
                </a:solidFill>
              </a:rPr>
              <a:t>Mejoras</a:t>
            </a:r>
            <a:r>
              <a:rPr sz="1600" b="1" dirty="0">
                <a:solidFill>
                  <a:srgbClr val="FFFFFF"/>
                </a:solidFill>
              </a:rPr>
              <a:t>: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Incorporación planificada de reportes analíticos avanzados de rendimiento, sistema de notificaciones automáticas y desarrollo de una aplicación móvil complementaria.</a:t>
            </a:r>
            <a:endParaRPr sz="1600" dirty="0">
              <a:solidFill>
                <a:schemeClr val="bg2"/>
              </a:solidFill>
            </a:endParaRP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</a:rPr>
              <a:t>Defensa Técnica:</a:t>
            </a:r>
            <a:r>
              <a:rPr sz="1600" dirty="0">
                <a:solidFill>
                  <a:srgbClr val="C8C8C8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Arquitectura limpia, modular y preparada para escalar con facilidad, diseñada para responder de manera óptima ante los exigentes requerimientos de la cátedra</a:t>
            </a:r>
            <a:r>
              <a:rPr lang="es-ES" sz="1600" dirty="0"/>
              <a:t>.</a:t>
            </a:r>
            <a:endParaRPr sz="1600" dirty="0">
              <a:solidFill>
                <a:srgbClr val="C8C8C8"/>
              </a:solidFill>
            </a:endParaRPr>
          </a:p>
          <a:p>
            <a:pPr>
              <a:spcBef>
                <a:spcPts val="1000"/>
              </a:spcBef>
            </a:pPr>
            <a:r>
              <a:rPr sz="1600" b="1" dirty="0">
                <a:solidFill>
                  <a:srgbClr val="FFFFFF"/>
                </a:solidFill>
              </a:rPr>
              <a:t>Equipo de </a:t>
            </a:r>
            <a:r>
              <a:rPr sz="1600" b="1" dirty="0" err="1">
                <a:solidFill>
                  <a:srgbClr val="FFFFFF"/>
                </a:solidFill>
              </a:rPr>
              <a:t>Trabajo</a:t>
            </a:r>
            <a:r>
              <a:rPr sz="1600" b="1" dirty="0">
                <a:solidFill>
                  <a:srgbClr val="FFFFFF"/>
                </a:solidFill>
              </a:rPr>
              <a:t>:</a:t>
            </a:r>
            <a:r>
              <a:rPr lang="es-ES" sz="1600" b="1" dirty="0">
                <a:solidFill>
                  <a:srgbClr val="FFFFFF"/>
                </a:solidFill>
              </a:rPr>
              <a:t> </a:t>
            </a:r>
            <a:r>
              <a:rPr lang="es-ES" sz="1600" dirty="0">
                <a:solidFill>
                  <a:schemeClr val="bg2"/>
                </a:solidFill>
              </a:rPr>
              <a:t>Desarrollo colaborativo y multidisciplinario completado con éxito, marcando un cierre sólido para esta presentación preliminar.</a:t>
            </a:r>
            <a:endParaRPr sz="1600" dirty="0">
              <a:solidFill>
                <a:schemeClr val="bg2"/>
              </a:solidFill>
            </a:endParaRPr>
          </a:p>
        </p:txBody>
      </p:sp>
      <p:pic>
        <p:nvPicPr>
          <p:cNvPr id="5" name="Imagen 4" descr="Imagen generada por IA">
            <a:extLst>
              <a:ext uri="{FF2B5EF4-FFF2-40B4-BE49-F238E27FC236}">
                <a16:creationId xmlns:a16="http://schemas.microsoft.com/office/drawing/2014/main" id="{3367499B-B1C4-14A2-C75A-D9E789309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368" y="731520"/>
            <a:ext cx="6046838" cy="4892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520</Words>
  <Application>Microsoft Office PowerPoint</Application>
  <PresentationFormat>Panorámica</PresentationFormat>
  <Paragraphs>24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gaston villaro</dc:creator>
  <cp:keywords/>
  <dc:description>generated using python-pptx</dc:description>
  <cp:lastModifiedBy>gaston villaro</cp:lastModifiedBy>
  <cp:revision>2</cp:revision>
  <dcterms:created xsi:type="dcterms:W3CDTF">2013-01-27T09:14:16Z</dcterms:created>
  <dcterms:modified xsi:type="dcterms:W3CDTF">2026-09-29T20:10:08Z</dcterms:modified>
  <cp:category/>
</cp:coreProperties>
</file>